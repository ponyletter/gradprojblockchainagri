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99" r:id="rId3"/>
    <p:sldId id="313" r:id="rId4"/>
    <p:sldId id="320" r:id="rId5"/>
    <p:sldId id="319" r:id="rId6"/>
    <p:sldId id="309" r:id="rId7"/>
    <p:sldId id="310" r:id="rId8"/>
    <p:sldId id="322" r:id="rId9"/>
    <p:sldId id="321" r:id="rId10"/>
    <p:sldId id="304" r:id="rId11"/>
    <p:sldId id="305" r:id="rId12"/>
    <p:sldId id="283" r:id="rId13"/>
  </p:sldIdLst>
  <p:sldSz cx="9144000" cy="6858000" type="screen4x3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5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1560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8" d="100"/>
        <a:sy n="108" d="100"/>
      </p:scale>
      <p:origin x="0" y="33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FCEBF-4029-426D-BD10-CDCD38BBD4B7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2024-05-09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E39BD-4CEF-49D3-B551-24790AB2ABC7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 userDrawn="1"/>
        </p:nvSpPr>
        <p:spPr>
          <a:xfrm>
            <a:off x="8441573" y="6337228"/>
            <a:ext cx="204754" cy="228303"/>
          </a:xfrm>
          <a:custGeom>
            <a:avLst/>
            <a:gdLst>
              <a:gd name="connsiteX0" fmla="*/ 1124365 w 2248729"/>
              <a:gd name="connsiteY0" fmla="*/ 0 h 2507353"/>
              <a:gd name="connsiteX1" fmla="*/ 1257442 w 2248729"/>
              <a:gd name="connsiteY1" fmla="*/ 31576 h 2507353"/>
              <a:gd name="connsiteX2" fmla="*/ 2115652 w 2248729"/>
              <a:gd name="connsiteY2" fmla="*/ 527274 h 2507353"/>
              <a:gd name="connsiteX3" fmla="*/ 2248729 w 2248729"/>
              <a:gd name="connsiteY3" fmla="*/ 758148 h 2507353"/>
              <a:gd name="connsiteX4" fmla="*/ 2248729 w 2248729"/>
              <a:gd name="connsiteY4" fmla="*/ 1749546 h 2507353"/>
              <a:gd name="connsiteX5" fmla="*/ 2115652 w 2248729"/>
              <a:gd name="connsiteY5" fmla="*/ 1980419 h 2507353"/>
              <a:gd name="connsiteX6" fmla="*/ 1257442 w 2248729"/>
              <a:gd name="connsiteY6" fmla="*/ 2474760 h 2507353"/>
              <a:gd name="connsiteX7" fmla="*/ 991288 w 2248729"/>
              <a:gd name="connsiteY7" fmla="*/ 2474760 h 2507353"/>
              <a:gd name="connsiteX8" fmla="*/ 133077 w 2248729"/>
              <a:gd name="connsiteY8" fmla="*/ 1980419 h 2507353"/>
              <a:gd name="connsiteX9" fmla="*/ 0 w 2248729"/>
              <a:gd name="connsiteY9" fmla="*/ 1749546 h 2507353"/>
              <a:gd name="connsiteX10" fmla="*/ 0 w 2248729"/>
              <a:gd name="connsiteY10" fmla="*/ 758148 h 2507353"/>
              <a:gd name="connsiteX11" fmla="*/ 133077 w 2248729"/>
              <a:gd name="connsiteY11" fmla="*/ 527274 h 2507353"/>
              <a:gd name="connsiteX12" fmla="*/ 991288 w 2248729"/>
              <a:gd name="connsiteY12" fmla="*/ 31576 h 2507353"/>
              <a:gd name="connsiteX13" fmla="*/ 1124365 w 2248729"/>
              <a:gd name="connsiteY13" fmla="*/ 0 h 2507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48729" h="2507353">
                <a:moveTo>
                  <a:pt x="1124365" y="0"/>
                </a:moveTo>
                <a:cubicBezTo>
                  <a:pt x="1172571" y="0"/>
                  <a:pt x="1220778" y="10526"/>
                  <a:pt x="1257442" y="31576"/>
                </a:cubicBezTo>
                <a:cubicBezTo>
                  <a:pt x="2115652" y="527274"/>
                  <a:pt x="2115652" y="527274"/>
                  <a:pt x="2115652" y="527274"/>
                </a:cubicBezTo>
                <a:cubicBezTo>
                  <a:pt x="2188980" y="569375"/>
                  <a:pt x="2248729" y="672589"/>
                  <a:pt x="2248729" y="758148"/>
                </a:cubicBezTo>
                <a:cubicBezTo>
                  <a:pt x="2248729" y="1749546"/>
                  <a:pt x="2248729" y="1749546"/>
                  <a:pt x="2248729" y="1749546"/>
                </a:cubicBezTo>
                <a:cubicBezTo>
                  <a:pt x="2248729" y="1833746"/>
                  <a:pt x="2188980" y="1936960"/>
                  <a:pt x="2115652" y="1980419"/>
                </a:cubicBezTo>
                <a:cubicBezTo>
                  <a:pt x="1257442" y="2474760"/>
                  <a:pt x="1257442" y="2474760"/>
                  <a:pt x="1257442" y="2474760"/>
                </a:cubicBezTo>
                <a:cubicBezTo>
                  <a:pt x="1184114" y="2518218"/>
                  <a:pt x="1064616" y="2518218"/>
                  <a:pt x="991288" y="2474760"/>
                </a:cubicBezTo>
                <a:cubicBezTo>
                  <a:pt x="133077" y="1980419"/>
                  <a:pt x="133077" y="1980419"/>
                  <a:pt x="133077" y="1980419"/>
                </a:cubicBezTo>
                <a:cubicBezTo>
                  <a:pt x="59749" y="1936960"/>
                  <a:pt x="0" y="1833746"/>
                  <a:pt x="0" y="1749546"/>
                </a:cubicBezTo>
                <a:lnTo>
                  <a:pt x="0" y="758148"/>
                </a:lnTo>
                <a:cubicBezTo>
                  <a:pt x="0" y="672589"/>
                  <a:pt x="59749" y="569375"/>
                  <a:pt x="133077" y="527274"/>
                </a:cubicBezTo>
                <a:cubicBezTo>
                  <a:pt x="991288" y="31576"/>
                  <a:pt x="991288" y="31576"/>
                  <a:pt x="991288" y="31576"/>
                </a:cubicBezTo>
                <a:cubicBezTo>
                  <a:pt x="1027952" y="10526"/>
                  <a:pt x="1076158" y="0"/>
                  <a:pt x="1124365" y="0"/>
                </a:cubicBezTo>
                <a:close/>
              </a:path>
            </a:pathLst>
          </a:custGeom>
          <a:solidFill>
            <a:schemeClr val="accent1"/>
          </a:solidFill>
          <a:ln w="222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600" dirty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3505200" y="6295056"/>
            <a:ext cx="4921859" cy="303121"/>
          </a:xfrm>
        </p:spPr>
        <p:txBody>
          <a:bodyPr>
            <a:noAutofit/>
          </a:bodyPr>
          <a:lstStyle>
            <a:lvl1pPr marL="0" indent="0" algn="r" defTabSz="914400" rtl="0" eaLnBrk="1" latinLnBrk="0" hangingPunct="1">
              <a:buNone/>
              <a:defRPr lang="zh-CN" altLang="en-US" sz="18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zh-CN" altLang="en-US" dirty="0"/>
              <a:t>输入标题解释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598715" y="899884"/>
            <a:ext cx="794657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377834"/>
            <a:ext cx="4826002" cy="435201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lang="zh-CN" altLang="en-US" sz="28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1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5511800" y="486019"/>
            <a:ext cx="3091542" cy="327016"/>
          </a:xfrm>
        </p:spPr>
        <p:txBody>
          <a:bodyPr>
            <a:noAutofit/>
          </a:bodyPr>
          <a:lstStyle>
            <a:lvl1pPr marL="0" indent="0" algn="r" defTabSz="914400" rtl="0" eaLnBrk="1" latinLnBrk="0" hangingPunct="1">
              <a:buNone/>
              <a:defRPr lang="zh-CN" altLang="en-US" sz="20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zh-CN" altLang="en-US" dirty="0"/>
              <a:t>输入标题解释</a:t>
            </a:r>
          </a:p>
        </p:txBody>
      </p:sp>
      <p:sp>
        <p:nvSpPr>
          <p:cNvPr id="10" name="任意多边形 9"/>
          <p:cNvSpPr/>
          <p:nvPr userDrawn="1"/>
        </p:nvSpPr>
        <p:spPr>
          <a:xfrm>
            <a:off x="8441573" y="6337228"/>
            <a:ext cx="204754" cy="228303"/>
          </a:xfrm>
          <a:custGeom>
            <a:avLst/>
            <a:gdLst>
              <a:gd name="connsiteX0" fmla="*/ 1124365 w 2248729"/>
              <a:gd name="connsiteY0" fmla="*/ 0 h 2507353"/>
              <a:gd name="connsiteX1" fmla="*/ 1257442 w 2248729"/>
              <a:gd name="connsiteY1" fmla="*/ 31576 h 2507353"/>
              <a:gd name="connsiteX2" fmla="*/ 2115652 w 2248729"/>
              <a:gd name="connsiteY2" fmla="*/ 527274 h 2507353"/>
              <a:gd name="connsiteX3" fmla="*/ 2248729 w 2248729"/>
              <a:gd name="connsiteY3" fmla="*/ 758148 h 2507353"/>
              <a:gd name="connsiteX4" fmla="*/ 2248729 w 2248729"/>
              <a:gd name="connsiteY4" fmla="*/ 1749546 h 2507353"/>
              <a:gd name="connsiteX5" fmla="*/ 2115652 w 2248729"/>
              <a:gd name="connsiteY5" fmla="*/ 1980419 h 2507353"/>
              <a:gd name="connsiteX6" fmla="*/ 1257442 w 2248729"/>
              <a:gd name="connsiteY6" fmla="*/ 2474760 h 2507353"/>
              <a:gd name="connsiteX7" fmla="*/ 991288 w 2248729"/>
              <a:gd name="connsiteY7" fmla="*/ 2474760 h 2507353"/>
              <a:gd name="connsiteX8" fmla="*/ 133077 w 2248729"/>
              <a:gd name="connsiteY8" fmla="*/ 1980419 h 2507353"/>
              <a:gd name="connsiteX9" fmla="*/ 0 w 2248729"/>
              <a:gd name="connsiteY9" fmla="*/ 1749546 h 2507353"/>
              <a:gd name="connsiteX10" fmla="*/ 0 w 2248729"/>
              <a:gd name="connsiteY10" fmla="*/ 758148 h 2507353"/>
              <a:gd name="connsiteX11" fmla="*/ 133077 w 2248729"/>
              <a:gd name="connsiteY11" fmla="*/ 527274 h 2507353"/>
              <a:gd name="connsiteX12" fmla="*/ 991288 w 2248729"/>
              <a:gd name="connsiteY12" fmla="*/ 31576 h 2507353"/>
              <a:gd name="connsiteX13" fmla="*/ 1124365 w 2248729"/>
              <a:gd name="connsiteY13" fmla="*/ 0 h 2507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48729" h="2507353">
                <a:moveTo>
                  <a:pt x="1124365" y="0"/>
                </a:moveTo>
                <a:cubicBezTo>
                  <a:pt x="1172571" y="0"/>
                  <a:pt x="1220778" y="10526"/>
                  <a:pt x="1257442" y="31576"/>
                </a:cubicBezTo>
                <a:cubicBezTo>
                  <a:pt x="2115652" y="527274"/>
                  <a:pt x="2115652" y="527274"/>
                  <a:pt x="2115652" y="527274"/>
                </a:cubicBezTo>
                <a:cubicBezTo>
                  <a:pt x="2188980" y="569375"/>
                  <a:pt x="2248729" y="672589"/>
                  <a:pt x="2248729" y="758148"/>
                </a:cubicBezTo>
                <a:cubicBezTo>
                  <a:pt x="2248729" y="1749546"/>
                  <a:pt x="2248729" y="1749546"/>
                  <a:pt x="2248729" y="1749546"/>
                </a:cubicBezTo>
                <a:cubicBezTo>
                  <a:pt x="2248729" y="1833746"/>
                  <a:pt x="2188980" y="1936960"/>
                  <a:pt x="2115652" y="1980419"/>
                </a:cubicBezTo>
                <a:cubicBezTo>
                  <a:pt x="1257442" y="2474760"/>
                  <a:pt x="1257442" y="2474760"/>
                  <a:pt x="1257442" y="2474760"/>
                </a:cubicBezTo>
                <a:cubicBezTo>
                  <a:pt x="1184114" y="2518218"/>
                  <a:pt x="1064616" y="2518218"/>
                  <a:pt x="991288" y="2474760"/>
                </a:cubicBezTo>
                <a:cubicBezTo>
                  <a:pt x="133077" y="1980419"/>
                  <a:pt x="133077" y="1980419"/>
                  <a:pt x="133077" y="1980419"/>
                </a:cubicBezTo>
                <a:cubicBezTo>
                  <a:pt x="59749" y="1936960"/>
                  <a:pt x="0" y="1833746"/>
                  <a:pt x="0" y="1749546"/>
                </a:cubicBezTo>
                <a:lnTo>
                  <a:pt x="0" y="758148"/>
                </a:lnTo>
                <a:cubicBezTo>
                  <a:pt x="0" y="672589"/>
                  <a:pt x="59749" y="569375"/>
                  <a:pt x="133077" y="527274"/>
                </a:cubicBezTo>
                <a:cubicBezTo>
                  <a:pt x="991288" y="31576"/>
                  <a:pt x="991288" y="31576"/>
                  <a:pt x="991288" y="31576"/>
                </a:cubicBezTo>
                <a:cubicBezTo>
                  <a:pt x="1027952" y="10526"/>
                  <a:pt x="1076158" y="0"/>
                  <a:pt x="1124365" y="0"/>
                </a:cubicBezTo>
                <a:close/>
              </a:path>
            </a:pathLst>
          </a:custGeom>
          <a:solidFill>
            <a:schemeClr val="accent1"/>
          </a:solidFill>
          <a:ln w="222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600" dirty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05200" y="6295056"/>
            <a:ext cx="4921859" cy="303121"/>
          </a:xfrm>
        </p:spPr>
        <p:txBody>
          <a:bodyPr>
            <a:noAutofit/>
          </a:bodyPr>
          <a:lstStyle>
            <a:lvl1pPr marL="0" indent="0" algn="r" defTabSz="914400" rtl="0" eaLnBrk="1" latinLnBrk="0" hangingPunct="1">
              <a:buNone/>
              <a:defRPr lang="zh-CN" altLang="en-US" sz="18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zh-CN" altLang="en-US" dirty="0"/>
              <a:t>输入标题解释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4FCEBF-4029-426D-BD10-CDCD38BBD4B7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2024-05-09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E39BD-4CEF-49D3-B551-24790AB2ABC7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1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7" Type="http://schemas.openxmlformats.org/officeDocument/2006/relationships/image" Target="../media/image10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16.png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24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塔大校徽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3368040" cy="1264920"/>
          </a:xfrm>
          <a:prstGeom prst="rect">
            <a:avLst/>
          </a:prstGeom>
        </p:spPr>
      </p:pic>
      <p:sp>
        <p:nvSpPr>
          <p:cNvPr id="44033" name="Rectangle 5"/>
          <p:cNvSpPr>
            <a:spLocks noGrp="1"/>
          </p:cNvSpPr>
          <p:nvPr>
            <p:ph type="subTitle"/>
            <p:custDataLst>
              <p:tags r:id="rId1"/>
            </p:custDataLst>
          </p:nvPr>
        </p:nvSpPr>
        <p:spPr>
          <a:xfrm>
            <a:off x="1333500" y="3090863"/>
            <a:ext cx="6335713" cy="1135062"/>
          </a:xfrm>
        </p:spPr>
        <p:txBody>
          <a:bodyPr wrap="square" lIns="91408" tIns="45704" rIns="91408" bIns="45704" anchor="t"/>
          <a:lstStyle>
            <a:lvl1pPr marL="0" lvl="0" indent="0" algn="ctr">
              <a:defRPr/>
            </a:lvl1pPr>
            <a:lvl2pPr marL="457200" lvl="1" indent="0" algn="ctr">
              <a:defRPr/>
            </a:lvl2pPr>
            <a:lvl3pPr marL="914400" lvl="2" indent="0" algn="ctr">
              <a:defRPr/>
            </a:lvl3pPr>
            <a:lvl4pPr marL="1371600" lvl="3" indent="0" algn="ctr">
              <a:defRPr/>
            </a:lvl4pPr>
            <a:lvl5pPr marL="1828800" lvl="4" indent="0" algn="ctr">
              <a:defRPr/>
            </a:lvl5pPr>
          </a:lstStyle>
          <a:p>
            <a:pPr marL="0" lvl="0" indent="0" algn="ctr" eaLnBrk="1" hangingPunct="1">
              <a:lnSpc>
                <a:spcPts val="4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rgbClr val="0000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en-US" altLang="zh-CN" sz="3200" dirty="0">
              <a:solidFill>
                <a:srgbClr val="000099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44035" name="直接连接符 5"/>
          <p:cNvCxnSpPr/>
          <p:nvPr>
            <p:custDataLst>
              <p:tags r:id="rId2"/>
            </p:custDataLst>
          </p:nvPr>
        </p:nvCxnSpPr>
        <p:spPr>
          <a:xfrm>
            <a:off x="1297623" y="3047048"/>
            <a:ext cx="6657340" cy="12065"/>
          </a:xfrm>
          <a:prstGeom prst="line">
            <a:avLst/>
          </a:prstGeom>
          <a:ln w="63500" cap="flat" cmpd="sng">
            <a:solidFill>
              <a:srgbClr val="00763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稻壳儿春秋广告/盗版必究        原创来源：http://chn.docer.com/works?userid=199329941#!/work_time"/>
          <p:cNvSpPr txBox="1"/>
          <p:nvPr>
            <p:custDataLst>
              <p:tags r:id="rId3"/>
            </p:custDataLst>
          </p:nvPr>
        </p:nvSpPr>
        <p:spPr>
          <a:xfrm>
            <a:off x="474345" y="2214245"/>
            <a:ext cx="786828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3600" dirty="0">
                <a:latin typeface="+mj-ea"/>
                <a:ea typeface="+mj-ea"/>
              </a:rPr>
              <a:t>进度汇报</a:t>
            </a:r>
          </a:p>
          <a:p>
            <a:pPr algn="ctr"/>
            <a:endParaRPr lang="zh-CN" sz="4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122" name="文本占位符 3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796424" y="4792980"/>
            <a:ext cx="5224125" cy="63627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bg1">
                    <a:lumMod val="6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1800" kern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</a:rPr>
              <a:t>汇报人：</a:t>
            </a:r>
            <a:r>
              <a:rPr lang="zh-CN" altLang="en-US" sz="1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</a:rPr>
              <a:t>柏小康</a:t>
            </a:r>
            <a:endParaRPr lang="zh-CN" altLang="en-US" sz="1800" kern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楷体" panose="0201060906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2060265" y="5459083"/>
            <a:ext cx="4880595" cy="63627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bg1">
                    <a:lumMod val="6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1800" kern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时  间：</a:t>
            </a:r>
            <a:r>
              <a:rPr lang="en-US" altLang="zh-CN" sz="1800" kern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2024.5.10</a:t>
            </a:r>
          </a:p>
          <a:p>
            <a:pPr eaLnBrk="1" hangingPunct="1"/>
            <a:endParaRPr lang="en-US" altLang="zh-CN" sz="1800" kern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eaLnBrk="1" hangingPunct="1"/>
            <a:endParaRPr lang="en-US" altLang="zh-CN" sz="1800" kern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楷体" panose="02010609060101010101" charset="-122"/>
            </a:endParaRPr>
          </a:p>
          <a:p>
            <a:pPr eaLnBrk="1" hangingPunct="1"/>
            <a:endParaRPr lang="en-US" altLang="zh-CN" sz="1800" kern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 txBox="1"/>
          <p:nvPr/>
        </p:nvSpPr>
        <p:spPr>
          <a:xfrm>
            <a:off x="494682" y="387174"/>
            <a:ext cx="4826002" cy="435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  <a:latin typeface="+mj-ea"/>
                <a:ea typeface="+mj-ea"/>
              </a:rPr>
              <a:t>近期工作汇报</a:t>
            </a:r>
            <a:endParaRPr lang="zh-CN" altLang="en-US" sz="2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6" name="图片 5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428101" y="1379827"/>
            <a:ext cx="65547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000000"/>
                </a:solidFill>
              </a:rPr>
              <a:t>文献阅读</a:t>
            </a:r>
            <a:r>
              <a:rPr lang="en-US" altLang="zh-CN" sz="3200" dirty="0">
                <a:solidFill>
                  <a:srgbClr val="000000"/>
                </a:solidFill>
              </a:rPr>
              <a:t>1</a:t>
            </a:r>
            <a:endParaRPr lang="zh-CN" altLang="en-US" sz="3200" dirty="0">
              <a:solidFill>
                <a:srgbClr val="000000"/>
              </a:solidFill>
            </a:endParaRPr>
          </a:p>
        </p:txBody>
      </p:sp>
      <p:sp>
        <p:nvSpPr>
          <p:cNvPr id="2" name="任意多边形 1"/>
          <p:cNvSpPr/>
          <p:nvPr>
            <p:custDataLst>
              <p:tags r:id="rId3"/>
            </p:custDataLst>
          </p:nvPr>
        </p:nvSpPr>
        <p:spPr>
          <a:xfrm>
            <a:off x="588508" y="1380053"/>
            <a:ext cx="597239" cy="665928"/>
          </a:xfrm>
          <a:custGeom>
            <a:avLst/>
            <a:gdLst>
              <a:gd name="connsiteX0" fmla="*/ 1124365 w 2248729"/>
              <a:gd name="connsiteY0" fmla="*/ 0 h 2507353"/>
              <a:gd name="connsiteX1" fmla="*/ 1257442 w 2248729"/>
              <a:gd name="connsiteY1" fmla="*/ 31576 h 2507353"/>
              <a:gd name="connsiteX2" fmla="*/ 2115652 w 2248729"/>
              <a:gd name="connsiteY2" fmla="*/ 527274 h 2507353"/>
              <a:gd name="connsiteX3" fmla="*/ 2248729 w 2248729"/>
              <a:gd name="connsiteY3" fmla="*/ 758148 h 2507353"/>
              <a:gd name="connsiteX4" fmla="*/ 2248729 w 2248729"/>
              <a:gd name="connsiteY4" fmla="*/ 1749546 h 2507353"/>
              <a:gd name="connsiteX5" fmla="*/ 2115652 w 2248729"/>
              <a:gd name="connsiteY5" fmla="*/ 1980419 h 2507353"/>
              <a:gd name="connsiteX6" fmla="*/ 1257442 w 2248729"/>
              <a:gd name="connsiteY6" fmla="*/ 2474760 h 2507353"/>
              <a:gd name="connsiteX7" fmla="*/ 991288 w 2248729"/>
              <a:gd name="connsiteY7" fmla="*/ 2474760 h 2507353"/>
              <a:gd name="connsiteX8" fmla="*/ 133077 w 2248729"/>
              <a:gd name="connsiteY8" fmla="*/ 1980419 h 2507353"/>
              <a:gd name="connsiteX9" fmla="*/ 0 w 2248729"/>
              <a:gd name="connsiteY9" fmla="*/ 1749546 h 2507353"/>
              <a:gd name="connsiteX10" fmla="*/ 0 w 2248729"/>
              <a:gd name="connsiteY10" fmla="*/ 758148 h 2507353"/>
              <a:gd name="connsiteX11" fmla="*/ 133077 w 2248729"/>
              <a:gd name="connsiteY11" fmla="*/ 527274 h 2507353"/>
              <a:gd name="connsiteX12" fmla="*/ 991288 w 2248729"/>
              <a:gd name="connsiteY12" fmla="*/ 31576 h 2507353"/>
              <a:gd name="connsiteX13" fmla="*/ 1124365 w 2248729"/>
              <a:gd name="connsiteY13" fmla="*/ 0 h 2507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48729" h="2507353">
                <a:moveTo>
                  <a:pt x="1124365" y="0"/>
                </a:moveTo>
                <a:cubicBezTo>
                  <a:pt x="1172571" y="0"/>
                  <a:pt x="1220778" y="10526"/>
                  <a:pt x="1257442" y="31576"/>
                </a:cubicBezTo>
                <a:cubicBezTo>
                  <a:pt x="2115652" y="527274"/>
                  <a:pt x="2115652" y="527274"/>
                  <a:pt x="2115652" y="527274"/>
                </a:cubicBezTo>
                <a:cubicBezTo>
                  <a:pt x="2188980" y="569375"/>
                  <a:pt x="2248729" y="672589"/>
                  <a:pt x="2248729" y="758148"/>
                </a:cubicBezTo>
                <a:cubicBezTo>
                  <a:pt x="2248729" y="1749546"/>
                  <a:pt x="2248729" y="1749546"/>
                  <a:pt x="2248729" y="1749546"/>
                </a:cubicBezTo>
                <a:cubicBezTo>
                  <a:pt x="2248729" y="1833746"/>
                  <a:pt x="2188980" y="1936960"/>
                  <a:pt x="2115652" y="1980419"/>
                </a:cubicBezTo>
                <a:cubicBezTo>
                  <a:pt x="1257442" y="2474760"/>
                  <a:pt x="1257442" y="2474760"/>
                  <a:pt x="1257442" y="2474760"/>
                </a:cubicBezTo>
                <a:cubicBezTo>
                  <a:pt x="1184114" y="2518218"/>
                  <a:pt x="1064616" y="2518218"/>
                  <a:pt x="991288" y="2474760"/>
                </a:cubicBezTo>
                <a:cubicBezTo>
                  <a:pt x="133077" y="1980419"/>
                  <a:pt x="133077" y="1980419"/>
                  <a:pt x="133077" y="1980419"/>
                </a:cubicBezTo>
                <a:cubicBezTo>
                  <a:pt x="59749" y="1936960"/>
                  <a:pt x="0" y="1833746"/>
                  <a:pt x="0" y="1749546"/>
                </a:cubicBezTo>
                <a:lnTo>
                  <a:pt x="0" y="758148"/>
                </a:lnTo>
                <a:cubicBezTo>
                  <a:pt x="0" y="672589"/>
                  <a:pt x="59749" y="569375"/>
                  <a:pt x="133077" y="527274"/>
                </a:cubicBezTo>
                <a:cubicBezTo>
                  <a:pt x="991288" y="31576"/>
                  <a:pt x="991288" y="31576"/>
                  <a:pt x="991288" y="31576"/>
                </a:cubicBezTo>
                <a:cubicBezTo>
                  <a:pt x="1027952" y="10526"/>
                  <a:pt x="1076158" y="0"/>
                  <a:pt x="1124365" y="0"/>
                </a:cubicBezTo>
                <a:close/>
              </a:path>
            </a:pathLst>
          </a:custGeom>
          <a:ln w="22225">
            <a:solidFill>
              <a:srgbClr val="0065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600" dirty="0">
                <a:solidFill>
                  <a:srgbClr val="006534"/>
                </a:solidFill>
                <a:latin typeface="微软雅黑" panose="020B0503020204020204" charset="-122"/>
              </a:rPr>
              <a:t>1</a:t>
            </a:r>
            <a:endParaRPr lang="zh-CN" altLang="en-US" sz="2600" dirty="0">
              <a:solidFill>
                <a:srgbClr val="006534"/>
              </a:solidFill>
              <a:latin typeface="微软雅黑" panose="020B050302020402020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501696E-99AB-44B9-9FE3-F327B200DF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275" y="2509488"/>
            <a:ext cx="8848725" cy="28289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 txBox="1"/>
          <p:nvPr/>
        </p:nvSpPr>
        <p:spPr>
          <a:xfrm>
            <a:off x="494682" y="387174"/>
            <a:ext cx="4826002" cy="435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  <a:latin typeface="+mj-ea"/>
                <a:ea typeface="+mj-ea"/>
              </a:rPr>
              <a:t>近期工作汇报</a:t>
            </a:r>
            <a:endParaRPr lang="zh-CN" altLang="en-US" sz="2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6" name="图片 5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4EA1519-852D-407F-920D-EC2AF89463E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70528" y="1280200"/>
            <a:ext cx="5274310" cy="540766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8B3428A-68AC-4A3E-A45E-EE4F4C0E82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4838" y="1899679"/>
            <a:ext cx="3038475" cy="1943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 txBox="1"/>
          <p:nvPr/>
        </p:nvSpPr>
        <p:spPr>
          <a:xfrm>
            <a:off x="494682" y="387174"/>
            <a:ext cx="4826002" cy="435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  <a:latin typeface="+mj-ea"/>
                <a:ea typeface="+mj-ea"/>
              </a:rPr>
              <a:t>近期工作汇报</a:t>
            </a:r>
            <a:endParaRPr lang="zh-CN" altLang="en-US" sz="2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6" name="图片 5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16F3EA6-6234-447C-832B-89A3B2C82A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82" y="1485827"/>
            <a:ext cx="7915275" cy="493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37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 txBox="1"/>
          <p:nvPr/>
        </p:nvSpPr>
        <p:spPr>
          <a:xfrm>
            <a:off x="494682" y="387174"/>
            <a:ext cx="4826002" cy="435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  <a:latin typeface="+mj-ea"/>
                <a:ea typeface="+mj-ea"/>
              </a:rPr>
              <a:t>近期工作汇报</a:t>
            </a:r>
            <a:endParaRPr lang="zh-CN" altLang="en-US" sz="2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6" name="图片 5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883CA06-C2C4-4BC6-9156-89BE81546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9581" y="4350335"/>
            <a:ext cx="6610350" cy="22098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56BB819-1F3F-4029-B74A-D4CE7ABF0A38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2053247" y="1500408"/>
            <a:ext cx="5274310" cy="28117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 txBox="1"/>
          <p:nvPr/>
        </p:nvSpPr>
        <p:spPr>
          <a:xfrm>
            <a:off x="494682" y="387174"/>
            <a:ext cx="4826002" cy="435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  <a:latin typeface="+mj-ea"/>
                <a:ea typeface="+mj-ea"/>
              </a:rPr>
              <a:t>近期工作汇报</a:t>
            </a:r>
            <a:endParaRPr lang="zh-CN" altLang="en-US" sz="2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6" name="图片 5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428101" y="1379827"/>
            <a:ext cx="65547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000000"/>
                </a:solidFill>
              </a:rPr>
              <a:t>学位论文写作经验分享 讲座</a:t>
            </a:r>
            <a:endParaRPr lang="en-US" altLang="zh-CN" sz="3200" dirty="0">
              <a:solidFill>
                <a:srgbClr val="000000"/>
              </a:solidFill>
            </a:endParaRPr>
          </a:p>
          <a:p>
            <a:r>
              <a:rPr lang="zh-CN" altLang="en-US" sz="3200" dirty="0">
                <a:solidFill>
                  <a:srgbClr val="000000"/>
                </a:solidFill>
              </a:rPr>
              <a:t> 主讲人：孙瑞志副院长</a:t>
            </a:r>
          </a:p>
        </p:txBody>
      </p:sp>
      <p:sp>
        <p:nvSpPr>
          <p:cNvPr id="2" name="任意多边形 1"/>
          <p:cNvSpPr/>
          <p:nvPr>
            <p:custDataLst>
              <p:tags r:id="rId3"/>
            </p:custDataLst>
          </p:nvPr>
        </p:nvSpPr>
        <p:spPr>
          <a:xfrm>
            <a:off x="588508" y="1380053"/>
            <a:ext cx="597239" cy="665928"/>
          </a:xfrm>
          <a:custGeom>
            <a:avLst/>
            <a:gdLst>
              <a:gd name="connsiteX0" fmla="*/ 1124365 w 2248729"/>
              <a:gd name="connsiteY0" fmla="*/ 0 h 2507353"/>
              <a:gd name="connsiteX1" fmla="*/ 1257442 w 2248729"/>
              <a:gd name="connsiteY1" fmla="*/ 31576 h 2507353"/>
              <a:gd name="connsiteX2" fmla="*/ 2115652 w 2248729"/>
              <a:gd name="connsiteY2" fmla="*/ 527274 h 2507353"/>
              <a:gd name="connsiteX3" fmla="*/ 2248729 w 2248729"/>
              <a:gd name="connsiteY3" fmla="*/ 758148 h 2507353"/>
              <a:gd name="connsiteX4" fmla="*/ 2248729 w 2248729"/>
              <a:gd name="connsiteY4" fmla="*/ 1749546 h 2507353"/>
              <a:gd name="connsiteX5" fmla="*/ 2115652 w 2248729"/>
              <a:gd name="connsiteY5" fmla="*/ 1980419 h 2507353"/>
              <a:gd name="connsiteX6" fmla="*/ 1257442 w 2248729"/>
              <a:gd name="connsiteY6" fmla="*/ 2474760 h 2507353"/>
              <a:gd name="connsiteX7" fmla="*/ 991288 w 2248729"/>
              <a:gd name="connsiteY7" fmla="*/ 2474760 h 2507353"/>
              <a:gd name="connsiteX8" fmla="*/ 133077 w 2248729"/>
              <a:gd name="connsiteY8" fmla="*/ 1980419 h 2507353"/>
              <a:gd name="connsiteX9" fmla="*/ 0 w 2248729"/>
              <a:gd name="connsiteY9" fmla="*/ 1749546 h 2507353"/>
              <a:gd name="connsiteX10" fmla="*/ 0 w 2248729"/>
              <a:gd name="connsiteY10" fmla="*/ 758148 h 2507353"/>
              <a:gd name="connsiteX11" fmla="*/ 133077 w 2248729"/>
              <a:gd name="connsiteY11" fmla="*/ 527274 h 2507353"/>
              <a:gd name="connsiteX12" fmla="*/ 991288 w 2248729"/>
              <a:gd name="connsiteY12" fmla="*/ 31576 h 2507353"/>
              <a:gd name="connsiteX13" fmla="*/ 1124365 w 2248729"/>
              <a:gd name="connsiteY13" fmla="*/ 0 h 2507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48729" h="2507353">
                <a:moveTo>
                  <a:pt x="1124365" y="0"/>
                </a:moveTo>
                <a:cubicBezTo>
                  <a:pt x="1172571" y="0"/>
                  <a:pt x="1220778" y="10526"/>
                  <a:pt x="1257442" y="31576"/>
                </a:cubicBezTo>
                <a:cubicBezTo>
                  <a:pt x="2115652" y="527274"/>
                  <a:pt x="2115652" y="527274"/>
                  <a:pt x="2115652" y="527274"/>
                </a:cubicBezTo>
                <a:cubicBezTo>
                  <a:pt x="2188980" y="569375"/>
                  <a:pt x="2248729" y="672589"/>
                  <a:pt x="2248729" y="758148"/>
                </a:cubicBezTo>
                <a:cubicBezTo>
                  <a:pt x="2248729" y="1749546"/>
                  <a:pt x="2248729" y="1749546"/>
                  <a:pt x="2248729" y="1749546"/>
                </a:cubicBezTo>
                <a:cubicBezTo>
                  <a:pt x="2248729" y="1833746"/>
                  <a:pt x="2188980" y="1936960"/>
                  <a:pt x="2115652" y="1980419"/>
                </a:cubicBezTo>
                <a:cubicBezTo>
                  <a:pt x="1257442" y="2474760"/>
                  <a:pt x="1257442" y="2474760"/>
                  <a:pt x="1257442" y="2474760"/>
                </a:cubicBezTo>
                <a:cubicBezTo>
                  <a:pt x="1184114" y="2518218"/>
                  <a:pt x="1064616" y="2518218"/>
                  <a:pt x="991288" y="2474760"/>
                </a:cubicBezTo>
                <a:cubicBezTo>
                  <a:pt x="133077" y="1980419"/>
                  <a:pt x="133077" y="1980419"/>
                  <a:pt x="133077" y="1980419"/>
                </a:cubicBezTo>
                <a:cubicBezTo>
                  <a:pt x="59749" y="1936960"/>
                  <a:pt x="0" y="1833746"/>
                  <a:pt x="0" y="1749546"/>
                </a:cubicBezTo>
                <a:lnTo>
                  <a:pt x="0" y="758148"/>
                </a:lnTo>
                <a:cubicBezTo>
                  <a:pt x="0" y="672589"/>
                  <a:pt x="59749" y="569375"/>
                  <a:pt x="133077" y="527274"/>
                </a:cubicBezTo>
                <a:cubicBezTo>
                  <a:pt x="991288" y="31576"/>
                  <a:pt x="991288" y="31576"/>
                  <a:pt x="991288" y="31576"/>
                </a:cubicBezTo>
                <a:cubicBezTo>
                  <a:pt x="1027952" y="10526"/>
                  <a:pt x="1076158" y="0"/>
                  <a:pt x="1124365" y="0"/>
                </a:cubicBezTo>
                <a:close/>
              </a:path>
            </a:pathLst>
          </a:custGeom>
          <a:ln w="22225">
            <a:solidFill>
              <a:srgbClr val="0065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600" dirty="0">
                <a:solidFill>
                  <a:srgbClr val="006534"/>
                </a:solidFill>
                <a:latin typeface="微软雅黑" panose="020B0503020204020204" charset="-122"/>
              </a:rPr>
              <a:t>2</a:t>
            </a:r>
            <a:endParaRPr lang="zh-CN" altLang="en-US" sz="2600" dirty="0">
              <a:solidFill>
                <a:srgbClr val="006534"/>
              </a:solidFill>
              <a:latin typeface="微软雅黑" panose="020B050302020402020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2EA4E1F-F190-4377-86FC-3033B245F4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679" y="2418999"/>
            <a:ext cx="2526844" cy="435095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462B69A-5EA4-4147-9A1E-DDEB8026F7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65839" y="3000026"/>
            <a:ext cx="5362575" cy="1847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 txBox="1"/>
          <p:nvPr/>
        </p:nvSpPr>
        <p:spPr>
          <a:xfrm>
            <a:off x="494682" y="387174"/>
            <a:ext cx="4826002" cy="435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  <a:latin typeface="+mj-ea"/>
                <a:ea typeface="+mj-ea"/>
              </a:rPr>
              <a:t>近期工作汇报</a:t>
            </a:r>
            <a:endParaRPr lang="zh-CN" altLang="en-US" sz="2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6" name="图片 5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933450" y="297864"/>
            <a:ext cx="1049021" cy="104902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6964898-944F-41A8-9EAE-458A43CD5C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608" y="1641688"/>
            <a:ext cx="8829675" cy="329565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E7E7ADB-EF6F-482B-9679-2B3A50A3AEEA}"/>
              </a:ext>
            </a:extLst>
          </p:cNvPr>
          <p:cNvSpPr/>
          <p:nvPr/>
        </p:nvSpPr>
        <p:spPr>
          <a:xfrm>
            <a:off x="494682" y="1272356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FF3300"/>
              </a:buClr>
              <a:defRPr/>
            </a:pP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一、论文结构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9964217-B944-45AC-BA46-DF0AFB50AA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233" y="4941878"/>
            <a:ext cx="8782050" cy="1485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 txBox="1"/>
          <p:nvPr/>
        </p:nvSpPr>
        <p:spPr>
          <a:xfrm>
            <a:off x="494682" y="387174"/>
            <a:ext cx="4826002" cy="435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  <a:latin typeface="+mj-ea"/>
                <a:ea typeface="+mj-ea"/>
              </a:rPr>
              <a:t>近期工作汇报</a:t>
            </a:r>
            <a:endParaRPr lang="zh-CN" altLang="en-US" sz="2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6" name="图片 5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933450" y="297864"/>
            <a:ext cx="1049021" cy="104902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7E7ADB-EF6F-482B-9679-2B3A50A3AEEA}"/>
              </a:ext>
            </a:extLst>
          </p:cNvPr>
          <p:cNvSpPr/>
          <p:nvPr/>
        </p:nvSpPr>
        <p:spPr>
          <a:xfrm>
            <a:off x="494682" y="127235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FF3300"/>
              </a:buClr>
              <a:defRPr/>
            </a:pP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二、绪论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8DC8CDE-8F35-4E63-B9FF-ACBC8E65E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25" y="1907009"/>
            <a:ext cx="8905875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56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 txBox="1"/>
          <p:nvPr/>
        </p:nvSpPr>
        <p:spPr>
          <a:xfrm>
            <a:off x="494682" y="387174"/>
            <a:ext cx="4826002" cy="435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  <a:latin typeface="+mj-ea"/>
                <a:ea typeface="+mj-ea"/>
              </a:rPr>
              <a:t>近期工作汇报</a:t>
            </a:r>
            <a:endParaRPr lang="zh-CN" altLang="en-US" sz="2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6" name="图片 5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933450" y="297864"/>
            <a:ext cx="1049021" cy="104902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7E7ADB-EF6F-482B-9679-2B3A50A3AEEA}"/>
              </a:ext>
            </a:extLst>
          </p:cNvPr>
          <p:cNvSpPr/>
          <p:nvPr/>
        </p:nvSpPr>
        <p:spPr>
          <a:xfrm>
            <a:off x="494682" y="127235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FF3300"/>
              </a:buClr>
              <a:defRPr/>
            </a:pP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二、小结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1EBBAED-55BA-41F4-8426-BD3DCDEB6A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35" y="2113344"/>
            <a:ext cx="8057784" cy="209025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D000FB2-14F6-4704-B199-3110B8421B00}"/>
              </a:ext>
            </a:extLst>
          </p:cNvPr>
          <p:cNvSpPr/>
          <p:nvPr/>
        </p:nvSpPr>
        <p:spPr>
          <a:xfrm>
            <a:off x="636307" y="1755737"/>
            <a:ext cx="39356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很重要、要简明、给评审者加深重点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1413205-7C03-4F49-AA47-2544B53769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630208"/>
            <a:ext cx="9001125" cy="208597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CF8A8954-AE87-4118-A4C5-BF80A310D77D}"/>
              </a:ext>
            </a:extLst>
          </p:cNvPr>
          <p:cNvSpPr/>
          <p:nvPr/>
        </p:nvSpPr>
        <p:spPr>
          <a:xfrm>
            <a:off x="471423" y="429035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FF3300"/>
              </a:buClr>
              <a:defRPr/>
            </a:pP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三、其他</a:t>
            </a:r>
          </a:p>
        </p:txBody>
      </p:sp>
    </p:spTree>
    <p:extLst>
      <p:ext uri="{BB962C8B-B14F-4D97-AF65-F5344CB8AC3E}">
        <p14:creationId xmlns:p14="http://schemas.microsoft.com/office/powerpoint/2010/main" val="3742691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 txBox="1"/>
          <p:nvPr/>
        </p:nvSpPr>
        <p:spPr>
          <a:xfrm>
            <a:off x="494682" y="387174"/>
            <a:ext cx="4826002" cy="435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  <a:latin typeface="+mj-ea"/>
                <a:ea typeface="+mj-ea"/>
              </a:rPr>
              <a:t>近期工作汇报</a:t>
            </a:r>
            <a:endParaRPr lang="zh-CN" altLang="en-US" sz="2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6" name="图片 5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428101" y="1516690"/>
            <a:ext cx="4624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绘图对比</a:t>
            </a:r>
            <a:endParaRPr lang="zh-CN" altLang="en-US" sz="3200" dirty="0">
              <a:solidFill>
                <a:srgbClr val="00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95986" y="2905578"/>
            <a:ext cx="2476241" cy="4687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    </a:t>
            </a:r>
            <a:endParaRPr lang="zh-CN" altLang="en-US">
              <a:latin typeface="方正小标宋简体" panose="03000509000000000000" pitchFamily="65" charset="-122"/>
              <a:ea typeface="方正小标宋简体" panose="03000509000000000000" pitchFamily="65" charset="-122"/>
            </a:endParaRPr>
          </a:p>
        </p:txBody>
      </p:sp>
      <p:sp>
        <p:nvSpPr>
          <p:cNvPr id="2" name="任意多边形 1"/>
          <p:cNvSpPr/>
          <p:nvPr>
            <p:custDataLst>
              <p:tags r:id="rId3"/>
            </p:custDataLst>
          </p:nvPr>
        </p:nvSpPr>
        <p:spPr>
          <a:xfrm>
            <a:off x="659904" y="1516690"/>
            <a:ext cx="597239" cy="665928"/>
          </a:xfrm>
          <a:custGeom>
            <a:avLst/>
            <a:gdLst>
              <a:gd name="connsiteX0" fmla="*/ 1124365 w 2248729"/>
              <a:gd name="connsiteY0" fmla="*/ 0 h 2507353"/>
              <a:gd name="connsiteX1" fmla="*/ 1257442 w 2248729"/>
              <a:gd name="connsiteY1" fmla="*/ 31576 h 2507353"/>
              <a:gd name="connsiteX2" fmla="*/ 2115652 w 2248729"/>
              <a:gd name="connsiteY2" fmla="*/ 527274 h 2507353"/>
              <a:gd name="connsiteX3" fmla="*/ 2248729 w 2248729"/>
              <a:gd name="connsiteY3" fmla="*/ 758148 h 2507353"/>
              <a:gd name="connsiteX4" fmla="*/ 2248729 w 2248729"/>
              <a:gd name="connsiteY4" fmla="*/ 1749546 h 2507353"/>
              <a:gd name="connsiteX5" fmla="*/ 2115652 w 2248729"/>
              <a:gd name="connsiteY5" fmla="*/ 1980419 h 2507353"/>
              <a:gd name="connsiteX6" fmla="*/ 1257442 w 2248729"/>
              <a:gd name="connsiteY6" fmla="*/ 2474760 h 2507353"/>
              <a:gd name="connsiteX7" fmla="*/ 991288 w 2248729"/>
              <a:gd name="connsiteY7" fmla="*/ 2474760 h 2507353"/>
              <a:gd name="connsiteX8" fmla="*/ 133077 w 2248729"/>
              <a:gd name="connsiteY8" fmla="*/ 1980419 h 2507353"/>
              <a:gd name="connsiteX9" fmla="*/ 0 w 2248729"/>
              <a:gd name="connsiteY9" fmla="*/ 1749546 h 2507353"/>
              <a:gd name="connsiteX10" fmla="*/ 0 w 2248729"/>
              <a:gd name="connsiteY10" fmla="*/ 758148 h 2507353"/>
              <a:gd name="connsiteX11" fmla="*/ 133077 w 2248729"/>
              <a:gd name="connsiteY11" fmla="*/ 527274 h 2507353"/>
              <a:gd name="connsiteX12" fmla="*/ 991288 w 2248729"/>
              <a:gd name="connsiteY12" fmla="*/ 31576 h 2507353"/>
              <a:gd name="connsiteX13" fmla="*/ 1124365 w 2248729"/>
              <a:gd name="connsiteY13" fmla="*/ 0 h 2507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48729" h="2507353">
                <a:moveTo>
                  <a:pt x="1124365" y="0"/>
                </a:moveTo>
                <a:cubicBezTo>
                  <a:pt x="1172571" y="0"/>
                  <a:pt x="1220778" y="10526"/>
                  <a:pt x="1257442" y="31576"/>
                </a:cubicBezTo>
                <a:cubicBezTo>
                  <a:pt x="2115652" y="527274"/>
                  <a:pt x="2115652" y="527274"/>
                  <a:pt x="2115652" y="527274"/>
                </a:cubicBezTo>
                <a:cubicBezTo>
                  <a:pt x="2188980" y="569375"/>
                  <a:pt x="2248729" y="672589"/>
                  <a:pt x="2248729" y="758148"/>
                </a:cubicBezTo>
                <a:cubicBezTo>
                  <a:pt x="2248729" y="1749546"/>
                  <a:pt x="2248729" y="1749546"/>
                  <a:pt x="2248729" y="1749546"/>
                </a:cubicBezTo>
                <a:cubicBezTo>
                  <a:pt x="2248729" y="1833746"/>
                  <a:pt x="2188980" y="1936960"/>
                  <a:pt x="2115652" y="1980419"/>
                </a:cubicBezTo>
                <a:cubicBezTo>
                  <a:pt x="1257442" y="2474760"/>
                  <a:pt x="1257442" y="2474760"/>
                  <a:pt x="1257442" y="2474760"/>
                </a:cubicBezTo>
                <a:cubicBezTo>
                  <a:pt x="1184114" y="2518218"/>
                  <a:pt x="1064616" y="2518218"/>
                  <a:pt x="991288" y="2474760"/>
                </a:cubicBezTo>
                <a:cubicBezTo>
                  <a:pt x="133077" y="1980419"/>
                  <a:pt x="133077" y="1980419"/>
                  <a:pt x="133077" y="1980419"/>
                </a:cubicBezTo>
                <a:cubicBezTo>
                  <a:pt x="59749" y="1936960"/>
                  <a:pt x="0" y="1833746"/>
                  <a:pt x="0" y="1749546"/>
                </a:cubicBezTo>
                <a:lnTo>
                  <a:pt x="0" y="758148"/>
                </a:lnTo>
                <a:cubicBezTo>
                  <a:pt x="0" y="672589"/>
                  <a:pt x="59749" y="569375"/>
                  <a:pt x="133077" y="527274"/>
                </a:cubicBezTo>
                <a:cubicBezTo>
                  <a:pt x="991288" y="31576"/>
                  <a:pt x="991288" y="31576"/>
                  <a:pt x="991288" y="31576"/>
                </a:cubicBezTo>
                <a:cubicBezTo>
                  <a:pt x="1027952" y="10526"/>
                  <a:pt x="1076158" y="0"/>
                  <a:pt x="1124365" y="0"/>
                </a:cubicBezTo>
                <a:close/>
              </a:path>
            </a:pathLst>
          </a:custGeom>
          <a:ln w="22225">
            <a:solidFill>
              <a:srgbClr val="0065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600" dirty="0">
                <a:solidFill>
                  <a:srgbClr val="006534"/>
                </a:solidFill>
                <a:latin typeface="微软雅黑" panose="020B0503020204020204" charset="-122"/>
              </a:rPr>
              <a:t>3</a:t>
            </a:r>
            <a:endParaRPr lang="zh-CN" altLang="en-US" sz="2600" dirty="0">
              <a:solidFill>
                <a:srgbClr val="006534"/>
              </a:solidFill>
              <a:latin typeface="微软雅黑" panose="020B050302020402020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CEC4369-CC00-4027-B035-F310518808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288907"/>
            <a:ext cx="9144000" cy="29009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 txBox="1"/>
          <p:nvPr/>
        </p:nvSpPr>
        <p:spPr>
          <a:xfrm>
            <a:off x="494682" y="387174"/>
            <a:ext cx="4826002" cy="435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  <a:latin typeface="+mj-ea"/>
                <a:ea typeface="+mj-ea"/>
              </a:rPr>
              <a:t>后续计划安排</a:t>
            </a:r>
            <a:endParaRPr lang="zh-CN" altLang="en-US" sz="2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6" name="图片 5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1128904" y="1986752"/>
            <a:ext cx="658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n w="28575">
                  <a:noFill/>
                </a:ln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zh-CN" altLang="en-US" sz="4000" b="1" dirty="0">
              <a:ln w="28575">
                <a:noFill/>
              </a:ln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/>
          <p:nvPr>
            <p:custDataLst>
              <p:tags r:id="rId3"/>
            </p:custDataLst>
          </p:nvPr>
        </p:nvSpPr>
        <p:spPr>
          <a:xfrm>
            <a:off x="2049818" y="1986751"/>
            <a:ext cx="6530202" cy="461665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样本可分离性；监督分类方法；查找统计数据</a:t>
            </a:r>
          </a:p>
        </p:txBody>
      </p:sp>
      <p:sp>
        <p:nvSpPr>
          <p:cNvPr id="16" name="任意多边形 15"/>
          <p:cNvSpPr/>
          <p:nvPr>
            <p:custDataLst>
              <p:tags r:id="rId4"/>
            </p:custDataLst>
          </p:nvPr>
        </p:nvSpPr>
        <p:spPr>
          <a:xfrm>
            <a:off x="1128628" y="1884956"/>
            <a:ext cx="597239" cy="665928"/>
          </a:xfrm>
          <a:custGeom>
            <a:avLst/>
            <a:gdLst>
              <a:gd name="connsiteX0" fmla="*/ 1124365 w 2248729"/>
              <a:gd name="connsiteY0" fmla="*/ 0 h 2507353"/>
              <a:gd name="connsiteX1" fmla="*/ 1257442 w 2248729"/>
              <a:gd name="connsiteY1" fmla="*/ 31576 h 2507353"/>
              <a:gd name="connsiteX2" fmla="*/ 2115652 w 2248729"/>
              <a:gd name="connsiteY2" fmla="*/ 527274 h 2507353"/>
              <a:gd name="connsiteX3" fmla="*/ 2248729 w 2248729"/>
              <a:gd name="connsiteY3" fmla="*/ 758148 h 2507353"/>
              <a:gd name="connsiteX4" fmla="*/ 2248729 w 2248729"/>
              <a:gd name="connsiteY4" fmla="*/ 1749546 h 2507353"/>
              <a:gd name="connsiteX5" fmla="*/ 2115652 w 2248729"/>
              <a:gd name="connsiteY5" fmla="*/ 1980419 h 2507353"/>
              <a:gd name="connsiteX6" fmla="*/ 1257442 w 2248729"/>
              <a:gd name="connsiteY6" fmla="*/ 2474760 h 2507353"/>
              <a:gd name="connsiteX7" fmla="*/ 991288 w 2248729"/>
              <a:gd name="connsiteY7" fmla="*/ 2474760 h 2507353"/>
              <a:gd name="connsiteX8" fmla="*/ 133077 w 2248729"/>
              <a:gd name="connsiteY8" fmla="*/ 1980419 h 2507353"/>
              <a:gd name="connsiteX9" fmla="*/ 0 w 2248729"/>
              <a:gd name="connsiteY9" fmla="*/ 1749546 h 2507353"/>
              <a:gd name="connsiteX10" fmla="*/ 0 w 2248729"/>
              <a:gd name="connsiteY10" fmla="*/ 758148 h 2507353"/>
              <a:gd name="connsiteX11" fmla="*/ 133077 w 2248729"/>
              <a:gd name="connsiteY11" fmla="*/ 527274 h 2507353"/>
              <a:gd name="connsiteX12" fmla="*/ 991288 w 2248729"/>
              <a:gd name="connsiteY12" fmla="*/ 31576 h 2507353"/>
              <a:gd name="connsiteX13" fmla="*/ 1124365 w 2248729"/>
              <a:gd name="connsiteY13" fmla="*/ 0 h 2507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48729" h="2507353">
                <a:moveTo>
                  <a:pt x="1124365" y="0"/>
                </a:moveTo>
                <a:cubicBezTo>
                  <a:pt x="1172571" y="0"/>
                  <a:pt x="1220778" y="10526"/>
                  <a:pt x="1257442" y="31576"/>
                </a:cubicBezTo>
                <a:cubicBezTo>
                  <a:pt x="2115652" y="527274"/>
                  <a:pt x="2115652" y="527274"/>
                  <a:pt x="2115652" y="527274"/>
                </a:cubicBezTo>
                <a:cubicBezTo>
                  <a:pt x="2188980" y="569375"/>
                  <a:pt x="2248729" y="672589"/>
                  <a:pt x="2248729" y="758148"/>
                </a:cubicBezTo>
                <a:cubicBezTo>
                  <a:pt x="2248729" y="1749546"/>
                  <a:pt x="2248729" y="1749546"/>
                  <a:pt x="2248729" y="1749546"/>
                </a:cubicBezTo>
                <a:cubicBezTo>
                  <a:pt x="2248729" y="1833746"/>
                  <a:pt x="2188980" y="1936960"/>
                  <a:pt x="2115652" y="1980419"/>
                </a:cubicBezTo>
                <a:cubicBezTo>
                  <a:pt x="1257442" y="2474760"/>
                  <a:pt x="1257442" y="2474760"/>
                  <a:pt x="1257442" y="2474760"/>
                </a:cubicBezTo>
                <a:cubicBezTo>
                  <a:pt x="1184114" y="2518218"/>
                  <a:pt x="1064616" y="2518218"/>
                  <a:pt x="991288" y="2474760"/>
                </a:cubicBezTo>
                <a:cubicBezTo>
                  <a:pt x="133077" y="1980419"/>
                  <a:pt x="133077" y="1980419"/>
                  <a:pt x="133077" y="1980419"/>
                </a:cubicBezTo>
                <a:cubicBezTo>
                  <a:pt x="59749" y="1936960"/>
                  <a:pt x="0" y="1833746"/>
                  <a:pt x="0" y="1749546"/>
                </a:cubicBezTo>
                <a:lnTo>
                  <a:pt x="0" y="758148"/>
                </a:lnTo>
                <a:cubicBezTo>
                  <a:pt x="0" y="672589"/>
                  <a:pt x="59749" y="569375"/>
                  <a:pt x="133077" y="527274"/>
                </a:cubicBezTo>
                <a:cubicBezTo>
                  <a:pt x="991288" y="31576"/>
                  <a:pt x="991288" y="31576"/>
                  <a:pt x="991288" y="31576"/>
                </a:cubicBezTo>
                <a:cubicBezTo>
                  <a:pt x="1027952" y="10526"/>
                  <a:pt x="1076158" y="0"/>
                  <a:pt x="1124365" y="0"/>
                </a:cubicBezTo>
                <a:close/>
              </a:path>
            </a:pathLst>
          </a:custGeom>
          <a:ln w="22225">
            <a:solidFill>
              <a:srgbClr val="0065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600" dirty="0">
                <a:solidFill>
                  <a:srgbClr val="006534"/>
                </a:solidFill>
                <a:latin typeface="微软雅黑" panose="020B0503020204020204" charset="-122"/>
              </a:rPr>
              <a:t>1</a:t>
            </a:r>
            <a:endParaRPr lang="zh-CN" altLang="en-US" sz="2600" dirty="0">
              <a:solidFill>
                <a:srgbClr val="006534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5"/>
            </p:custDataLst>
          </p:nvPr>
        </p:nvSpPr>
        <p:spPr>
          <a:xfrm>
            <a:off x="1128628" y="2916449"/>
            <a:ext cx="597239" cy="665928"/>
          </a:xfrm>
          <a:custGeom>
            <a:avLst/>
            <a:gdLst>
              <a:gd name="connsiteX0" fmla="*/ 1124365 w 2248729"/>
              <a:gd name="connsiteY0" fmla="*/ 0 h 2507353"/>
              <a:gd name="connsiteX1" fmla="*/ 1257442 w 2248729"/>
              <a:gd name="connsiteY1" fmla="*/ 31576 h 2507353"/>
              <a:gd name="connsiteX2" fmla="*/ 2115652 w 2248729"/>
              <a:gd name="connsiteY2" fmla="*/ 527274 h 2507353"/>
              <a:gd name="connsiteX3" fmla="*/ 2248729 w 2248729"/>
              <a:gd name="connsiteY3" fmla="*/ 758148 h 2507353"/>
              <a:gd name="connsiteX4" fmla="*/ 2248729 w 2248729"/>
              <a:gd name="connsiteY4" fmla="*/ 1749546 h 2507353"/>
              <a:gd name="connsiteX5" fmla="*/ 2115652 w 2248729"/>
              <a:gd name="connsiteY5" fmla="*/ 1980419 h 2507353"/>
              <a:gd name="connsiteX6" fmla="*/ 1257442 w 2248729"/>
              <a:gd name="connsiteY6" fmla="*/ 2474760 h 2507353"/>
              <a:gd name="connsiteX7" fmla="*/ 991288 w 2248729"/>
              <a:gd name="connsiteY7" fmla="*/ 2474760 h 2507353"/>
              <a:gd name="connsiteX8" fmla="*/ 133077 w 2248729"/>
              <a:gd name="connsiteY8" fmla="*/ 1980419 h 2507353"/>
              <a:gd name="connsiteX9" fmla="*/ 0 w 2248729"/>
              <a:gd name="connsiteY9" fmla="*/ 1749546 h 2507353"/>
              <a:gd name="connsiteX10" fmla="*/ 0 w 2248729"/>
              <a:gd name="connsiteY10" fmla="*/ 758148 h 2507353"/>
              <a:gd name="connsiteX11" fmla="*/ 133077 w 2248729"/>
              <a:gd name="connsiteY11" fmla="*/ 527274 h 2507353"/>
              <a:gd name="connsiteX12" fmla="*/ 991288 w 2248729"/>
              <a:gd name="connsiteY12" fmla="*/ 31576 h 2507353"/>
              <a:gd name="connsiteX13" fmla="*/ 1124365 w 2248729"/>
              <a:gd name="connsiteY13" fmla="*/ 0 h 2507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48729" h="2507353">
                <a:moveTo>
                  <a:pt x="1124365" y="0"/>
                </a:moveTo>
                <a:cubicBezTo>
                  <a:pt x="1172571" y="0"/>
                  <a:pt x="1220778" y="10526"/>
                  <a:pt x="1257442" y="31576"/>
                </a:cubicBezTo>
                <a:cubicBezTo>
                  <a:pt x="2115652" y="527274"/>
                  <a:pt x="2115652" y="527274"/>
                  <a:pt x="2115652" y="527274"/>
                </a:cubicBezTo>
                <a:cubicBezTo>
                  <a:pt x="2188980" y="569375"/>
                  <a:pt x="2248729" y="672589"/>
                  <a:pt x="2248729" y="758148"/>
                </a:cubicBezTo>
                <a:cubicBezTo>
                  <a:pt x="2248729" y="1749546"/>
                  <a:pt x="2248729" y="1749546"/>
                  <a:pt x="2248729" y="1749546"/>
                </a:cubicBezTo>
                <a:cubicBezTo>
                  <a:pt x="2248729" y="1833746"/>
                  <a:pt x="2188980" y="1936960"/>
                  <a:pt x="2115652" y="1980419"/>
                </a:cubicBezTo>
                <a:cubicBezTo>
                  <a:pt x="1257442" y="2474760"/>
                  <a:pt x="1257442" y="2474760"/>
                  <a:pt x="1257442" y="2474760"/>
                </a:cubicBezTo>
                <a:cubicBezTo>
                  <a:pt x="1184114" y="2518218"/>
                  <a:pt x="1064616" y="2518218"/>
                  <a:pt x="991288" y="2474760"/>
                </a:cubicBezTo>
                <a:cubicBezTo>
                  <a:pt x="133077" y="1980419"/>
                  <a:pt x="133077" y="1980419"/>
                  <a:pt x="133077" y="1980419"/>
                </a:cubicBezTo>
                <a:cubicBezTo>
                  <a:pt x="59749" y="1936960"/>
                  <a:pt x="0" y="1833746"/>
                  <a:pt x="0" y="1749546"/>
                </a:cubicBezTo>
                <a:lnTo>
                  <a:pt x="0" y="758148"/>
                </a:lnTo>
                <a:cubicBezTo>
                  <a:pt x="0" y="672589"/>
                  <a:pt x="59749" y="569375"/>
                  <a:pt x="133077" y="527274"/>
                </a:cubicBezTo>
                <a:cubicBezTo>
                  <a:pt x="991288" y="31576"/>
                  <a:pt x="991288" y="31576"/>
                  <a:pt x="991288" y="31576"/>
                </a:cubicBezTo>
                <a:cubicBezTo>
                  <a:pt x="1027952" y="10526"/>
                  <a:pt x="1076158" y="0"/>
                  <a:pt x="1124365" y="0"/>
                </a:cubicBezTo>
                <a:close/>
              </a:path>
            </a:pathLst>
          </a:custGeom>
          <a:ln w="22225">
            <a:solidFill>
              <a:srgbClr val="0065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600">
                <a:solidFill>
                  <a:srgbClr val="006534"/>
                </a:solidFill>
                <a:latin typeface="微软雅黑" panose="020B0503020204020204" charset="-122"/>
              </a:rPr>
              <a:t>2</a:t>
            </a:r>
            <a:endParaRPr lang="zh-CN" altLang="en-US" sz="2600" dirty="0">
              <a:solidFill>
                <a:srgbClr val="006534"/>
              </a:solidFill>
              <a:latin typeface="微软雅黑" panose="020B0503020204020204" charset="-122"/>
            </a:endParaRPr>
          </a:p>
        </p:txBody>
      </p:sp>
      <p:sp>
        <p:nvSpPr>
          <p:cNvPr id="2" name="矩形 1"/>
          <p:cNvSpPr/>
          <p:nvPr>
            <p:custDataLst>
              <p:tags r:id="rId6"/>
            </p:custDataLst>
          </p:nvPr>
        </p:nvSpPr>
        <p:spPr>
          <a:xfrm>
            <a:off x="2144240" y="3018580"/>
            <a:ext cx="6530202" cy="461665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学习绘图；大模型助力科研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5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3296811" y="2007152"/>
            <a:ext cx="2550378" cy="2843697"/>
          </a:xfrm>
          <a:custGeom>
            <a:avLst/>
            <a:gdLst>
              <a:gd name="connsiteX0" fmla="*/ 1124365 w 2248729"/>
              <a:gd name="connsiteY0" fmla="*/ 0 h 2507353"/>
              <a:gd name="connsiteX1" fmla="*/ 1257442 w 2248729"/>
              <a:gd name="connsiteY1" fmla="*/ 31576 h 2507353"/>
              <a:gd name="connsiteX2" fmla="*/ 2115652 w 2248729"/>
              <a:gd name="connsiteY2" fmla="*/ 527274 h 2507353"/>
              <a:gd name="connsiteX3" fmla="*/ 2248729 w 2248729"/>
              <a:gd name="connsiteY3" fmla="*/ 758148 h 2507353"/>
              <a:gd name="connsiteX4" fmla="*/ 2248729 w 2248729"/>
              <a:gd name="connsiteY4" fmla="*/ 1749546 h 2507353"/>
              <a:gd name="connsiteX5" fmla="*/ 2115652 w 2248729"/>
              <a:gd name="connsiteY5" fmla="*/ 1980419 h 2507353"/>
              <a:gd name="connsiteX6" fmla="*/ 1257442 w 2248729"/>
              <a:gd name="connsiteY6" fmla="*/ 2474760 h 2507353"/>
              <a:gd name="connsiteX7" fmla="*/ 991288 w 2248729"/>
              <a:gd name="connsiteY7" fmla="*/ 2474760 h 2507353"/>
              <a:gd name="connsiteX8" fmla="*/ 133077 w 2248729"/>
              <a:gd name="connsiteY8" fmla="*/ 1980419 h 2507353"/>
              <a:gd name="connsiteX9" fmla="*/ 0 w 2248729"/>
              <a:gd name="connsiteY9" fmla="*/ 1749546 h 2507353"/>
              <a:gd name="connsiteX10" fmla="*/ 0 w 2248729"/>
              <a:gd name="connsiteY10" fmla="*/ 758148 h 2507353"/>
              <a:gd name="connsiteX11" fmla="*/ 133077 w 2248729"/>
              <a:gd name="connsiteY11" fmla="*/ 527274 h 2507353"/>
              <a:gd name="connsiteX12" fmla="*/ 991288 w 2248729"/>
              <a:gd name="connsiteY12" fmla="*/ 31576 h 2507353"/>
              <a:gd name="connsiteX13" fmla="*/ 1124365 w 2248729"/>
              <a:gd name="connsiteY13" fmla="*/ 0 h 2507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48729" h="2507353">
                <a:moveTo>
                  <a:pt x="1124365" y="0"/>
                </a:moveTo>
                <a:cubicBezTo>
                  <a:pt x="1172571" y="0"/>
                  <a:pt x="1220778" y="10526"/>
                  <a:pt x="1257442" y="31576"/>
                </a:cubicBezTo>
                <a:cubicBezTo>
                  <a:pt x="2115652" y="527274"/>
                  <a:pt x="2115652" y="527274"/>
                  <a:pt x="2115652" y="527274"/>
                </a:cubicBezTo>
                <a:cubicBezTo>
                  <a:pt x="2188980" y="569375"/>
                  <a:pt x="2248729" y="672589"/>
                  <a:pt x="2248729" y="758148"/>
                </a:cubicBezTo>
                <a:cubicBezTo>
                  <a:pt x="2248729" y="1749546"/>
                  <a:pt x="2248729" y="1749546"/>
                  <a:pt x="2248729" y="1749546"/>
                </a:cubicBezTo>
                <a:cubicBezTo>
                  <a:pt x="2248729" y="1833746"/>
                  <a:pt x="2188980" y="1936960"/>
                  <a:pt x="2115652" y="1980419"/>
                </a:cubicBezTo>
                <a:cubicBezTo>
                  <a:pt x="1257442" y="2474760"/>
                  <a:pt x="1257442" y="2474760"/>
                  <a:pt x="1257442" y="2474760"/>
                </a:cubicBezTo>
                <a:cubicBezTo>
                  <a:pt x="1184114" y="2518218"/>
                  <a:pt x="1064616" y="2518218"/>
                  <a:pt x="991288" y="2474760"/>
                </a:cubicBezTo>
                <a:cubicBezTo>
                  <a:pt x="133077" y="1980419"/>
                  <a:pt x="133077" y="1980419"/>
                  <a:pt x="133077" y="1980419"/>
                </a:cubicBezTo>
                <a:cubicBezTo>
                  <a:pt x="59749" y="1936960"/>
                  <a:pt x="0" y="1833746"/>
                  <a:pt x="0" y="1749546"/>
                </a:cubicBezTo>
                <a:lnTo>
                  <a:pt x="0" y="758148"/>
                </a:lnTo>
                <a:cubicBezTo>
                  <a:pt x="0" y="672589"/>
                  <a:pt x="59749" y="569375"/>
                  <a:pt x="133077" y="527274"/>
                </a:cubicBezTo>
                <a:cubicBezTo>
                  <a:pt x="991288" y="31576"/>
                  <a:pt x="991288" y="31576"/>
                  <a:pt x="991288" y="31576"/>
                </a:cubicBezTo>
                <a:cubicBezTo>
                  <a:pt x="1027952" y="10526"/>
                  <a:pt x="1076158" y="0"/>
                  <a:pt x="1124365" y="0"/>
                </a:cubicBezTo>
                <a:close/>
              </a:path>
            </a:pathLst>
          </a:custGeom>
          <a:solidFill>
            <a:schemeClr val="bg1"/>
          </a:solidFill>
          <a:ln w="222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4400" spc="300" dirty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52586" y="3044280"/>
            <a:ext cx="22388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>
                <a:solidFill>
                  <a:srgbClr val="006534"/>
                </a:solidFill>
                <a:ea typeface="微软雅黑" panose="020B0503020204020204" charset="-122"/>
              </a:rPr>
              <a:t>Thanks</a:t>
            </a:r>
            <a:endParaRPr lang="zh-CN" altLang="en-US" sz="4400" dirty="0">
              <a:solidFill>
                <a:srgbClr val="006534"/>
              </a:solidFill>
              <a:ea typeface="微软雅黑" panose="020B0503020204020204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5847189" y="2224866"/>
            <a:ext cx="271591" cy="27159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5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a8dc26b9-0e54-4033-828c-3c3b50fcd2d4"/>
  <p:tag name="COMMONDATA" val="eyJoZGlkIjoiMGU4MTkyYWRkMzZlYTQxYTlkMTUxNzI5MmY5ZDM2N2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">
  <a:themeElements>
    <a:clrScheme name="论文蓝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65FAA"/>
      </a:accent1>
      <a:accent2>
        <a:srgbClr val="4472C4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论文">
      <a:majorFont>
        <a:latin typeface="微软雅黑"/>
        <a:ea typeface="微软雅黑"/>
        <a:cs typeface=""/>
      </a:majorFont>
      <a:minorFont>
        <a:latin typeface="微软雅黑 Light"/>
        <a:ea typeface="微软雅黑 Light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</TotalTime>
  <Words>110</Words>
  <Application>Microsoft Office PowerPoint</Application>
  <PresentationFormat>全屏显示(4:3)</PresentationFormat>
  <Paragraphs>34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方正小标宋简体</vt:lpstr>
      <vt:lpstr>黑体</vt:lpstr>
      <vt:lpstr>华文楷体</vt:lpstr>
      <vt:lpstr>华文细黑</vt:lpstr>
      <vt:lpstr>楷体</vt:lpstr>
      <vt:lpstr>宋体</vt:lpstr>
      <vt:lpstr>微软雅黑</vt:lpstr>
      <vt:lpstr>微软雅黑 Light</vt:lpstr>
      <vt:lpstr>Arial</vt:lpstr>
      <vt:lpstr>Times New Roman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PPTS</dc:title>
  <dc:subject>PPTS</dc:subject>
  <dc:creator>PPTS</dc:creator>
  <cp:keywords>PPTS</cp:keywords>
  <dc:description>PPTS</dc:description>
  <cp:lastModifiedBy>mubai</cp:lastModifiedBy>
  <cp:revision>39</cp:revision>
  <dcterms:created xsi:type="dcterms:W3CDTF">2015-07-19T09:09:00Z</dcterms:created>
  <dcterms:modified xsi:type="dcterms:W3CDTF">2024-05-09T16:24:00Z</dcterms:modified>
  <cp:category>PPTS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41451DD528D045E8890E5E5A529202E2_12</vt:lpwstr>
  </property>
  <property fmtid="{D5CDD505-2E9C-101B-9397-08002B2CF9AE}" pid="3" name="KSOProductBuildVer">
    <vt:lpwstr>2052-12.1.0.15990</vt:lpwstr>
  </property>
</Properties>
</file>